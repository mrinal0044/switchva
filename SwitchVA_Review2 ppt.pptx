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4"/>
  </p:notesMasterIdLst>
  <p:sldIdLst>
    <p:sldId id="263" r:id="rId2"/>
    <p:sldId id="257" r:id="rId3"/>
    <p:sldId id="258" r:id="rId4"/>
    <p:sldId id="266" r:id="rId5"/>
    <p:sldId id="264" r:id="rId6"/>
    <p:sldId id="259" r:id="rId7"/>
    <p:sldId id="260" r:id="rId8"/>
    <p:sldId id="261" r:id="rId9"/>
    <p:sldId id="265" r:id="rId10"/>
    <p:sldId id="267" r:id="rId11"/>
    <p:sldId id="268" r:id="rId12"/>
    <p:sldId id="269" r:id="rId13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4504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4D592-E670-94C7-E851-1ADDB1AE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D1E04-19B3-EACE-24FE-E1AD10F17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65A29-4F3D-FA68-E93D-02C4C891F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D95EB-1F8B-13E6-8C76-89A7E7FC47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85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7948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576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0404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95543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627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81003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3702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5183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8378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8859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163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902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081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07.15341" TargetMode="External"/><Relationship Id="rId3" Type="http://schemas.openxmlformats.org/officeDocument/2006/relationships/hyperlink" Target="https://doi.org/10.18653/v1/S16-1002" TargetMode="External"/><Relationship Id="rId7" Type="http://schemas.openxmlformats.org/officeDocument/2006/relationships/hyperlink" Target="https://arxiv.org/abs/2603.04933" TargetMode="External"/><Relationship Id="rId2" Type="http://schemas.openxmlformats.org/officeDocument/2006/relationships/hyperlink" Target="https://doi.org/10.3115/v1/S14-2004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arxiv.org/abs/2601.23022" TargetMode="External"/><Relationship Id="rId11" Type="http://schemas.openxmlformats.org/officeDocument/2006/relationships/hyperlink" Target="https://aclanthology.org/C16-1234/" TargetMode="External"/><Relationship Id="rId5" Type="http://schemas.openxmlformats.org/officeDocument/2006/relationships/hyperlink" Target="https://arxiv.org/abs/2604.07066" TargetMode="External"/><Relationship Id="rId10" Type="http://schemas.openxmlformats.org/officeDocument/2006/relationships/hyperlink" Target="https://doi.org/10.18653/v1/2020.acl-main.329" TargetMode="External"/><Relationship Id="rId4" Type="http://schemas.openxmlformats.org/officeDocument/2006/relationships/hyperlink" Target="https://doi.org/10.18653/v1/P18-1017" TargetMode="External"/><Relationship Id="rId9" Type="http://schemas.openxmlformats.org/officeDocument/2006/relationships/hyperlink" Target="https://aclanthology.org/2020.lrec-1.223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4.08398" TargetMode="External"/><Relationship Id="rId2" Type="http://schemas.openxmlformats.org/officeDocument/2006/relationships/hyperlink" Target="https://arxiv.org/abs/2405.12929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aclanthology.org/2025.findings-acl.600/" TargetMode="External"/><Relationship Id="rId5" Type="http://schemas.openxmlformats.org/officeDocument/2006/relationships/hyperlink" Target="https://aclanthology.org/2025.emnlp-main.128/" TargetMode="External"/><Relationship Id="rId4" Type="http://schemas.openxmlformats.org/officeDocument/2006/relationships/hyperlink" Target="https://arxiv.org/abs/2503.21670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64EF1D3F-485D-139C-2243-98F6142754F9}"/>
              </a:ext>
            </a:extLst>
          </p:cNvPr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5A5F43A4-209C-1425-D542-C46421B6D5D4}"/>
              </a:ext>
            </a:extLst>
          </p:cNvPr>
          <p:cNvSpPr/>
          <p:nvPr/>
        </p:nvSpPr>
        <p:spPr>
          <a:xfrm>
            <a:off x="822960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SwitchVA</a:t>
            </a:r>
            <a:endParaRPr lang="en-US" sz="4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85D01B4-8EF4-08E9-52AD-F1996A3278DA}"/>
              </a:ext>
            </a:extLst>
          </p:cNvPr>
          <p:cNvSpPr/>
          <p:nvPr/>
        </p:nvSpPr>
        <p:spPr>
          <a:xfrm>
            <a:off x="822960" y="274320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Language-Switch-Aware Framework for Dimensional (Valence–Arousal)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Aspect-Based Sentiment Analysis in Hindi–English Code-Mixed Text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E711018-28AF-CC5B-5F28-9F47FC3AAC6C}"/>
              </a:ext>
            </a:extLst>
          </p:cNvPr>
          <p:cNvSpPr/>
          <p:nvPr/>
        </p:nvSpPr>
        <p:spPr>
          <a:xfrm>
            <a:off x="822960" y="3977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NSSG-</a:t>
            </a:r>
            <a:r>
              <a:rPr lang="en-US" sz="13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DimNet</a:t>
            </a:r>
            <a:r>
              <a:rPr lang="en-US" sz="13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Neuro-Symbolic Switch-Gated Dual-Graph Network</a:t>
            </a:r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3BA08039-81FA-9CC5-D58D-676DA79017BD}"/>
              </a:ext>
            </a:extLst>
          </p:cNvPr>
          <p:cNvSpPr/>
          <p:nvPr/>
        </p:nvSpPr>
        <p:spPr>
          <a:xfrm>
            <a:off x="822960" y="493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D9ADE65-5C05-F2E5-0902-7EEAAA51F1DA}"/>
              </a:ext>
            </a:extLst>
          </p:cNvPr>
          <p:cNvSpPr/>
          <p:nvPr/>
        </p:nvSpPr>
        <p:spPr>
          <a:xfrm>
            <a:off x="822960" y="5212080"/>
            <a:ext cx="10058400" cy="1306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Panda (23BAI1297)   |   Adhya Sharma (23BAI1280)   |   K. Mrinal (23BDS1022)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Madura Meenakshi</a:t>
            </a:r>
            <a:b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DCB2BBF2-9DF9-D1DF-534C-419DDAB464E9}"/>
              </a:ext>
            </a:extLst>
          </p:cNvPr>
          <p:cNvSpPr/>
          <p:nvPr/>
        </p:nvSpPr>
        <p:spPr>
          <a:xfrm>
            <a:off x="822960" y="5943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4539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26095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Domain Understanding &amp; Problem Definition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4158" y="1514076"/>
            <a:ext cx="5486400" cy="5023884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74158" y="2148840"/>
            <a:ext cx="5369442" cy="39329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has shifted from 3-class polarity to dimensional (continuous) Valence - Arousal scoring formalised by SemEval-2026 Task 3 (DimABSA) across 11 languages.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DimABSA's 11 languages is code-mixed. Hindi - English “Hinglish” which is used daily by hundreds of millions across India, has no dimensional Aspect based sentiment analysis (ABSA) resource or model.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Hinglish/multilingual ABSA work is limited to categorical sentiment, not continuous intensity.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11 DimABSA languages, arousal is consistently harder to predict than valence with no explanation offered for code-mixed settings.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681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1709928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519672" y="1984248"/>
            <a:ext cx="49651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Code-switch points are not random, they follow predictable syntactic structure (Sterner &amp; Teufel, 2025) and carry usable signal about nearby aspect sentiment.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3218688"/>
            <a:ext cx="5468112" cy="1417320"/>
          </a:xfrm>
          <a:prstGeom prst="roundRect">
            <a:avLst>
              <a:gd name="adj" fmla="val 5161"/>
            </a:avLst>
          </a:prstGeom>
          <a:noFill/>
          <a:ln w="15875">
            <a:solidFill>
              <a:srgbClr val="F0A83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19672" y="3328416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519672" y="3602736"/>
            <a:ext cx="49651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dimensional ABSA annotated Hinglish corpus; token-level language identifiers must be sourced from L3Cube-HingCorpus and annotated for VA scores.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63640" y="4837176"/>
            <a:ext cx="54681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9672" y="4946904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19672" y="5221224"/>
            <a:ext cx="496519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dimensional ABSA resource + model for Hindi-English code-mixed text; tests whether modelling switch points closes the arousal-prediction gap.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918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Literature Review &amp; Gap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91840" y="1874520"/>
            <a:ext cx="55321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Work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82396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5623560"/>
            <a:ext cx="10835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67A6698-1C69-B634-6099-EEAA489FC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521721"/>
              </p:ext>
            </p:extLst>
          </p:nvPr>
        </p:nvGraphicFramePr>
        <p:xfrm>
          <a:off x="1061" y="815962"/>
          <a:ext cx="12190939" cy="572199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414787">
                  <a:extLst>
                    <a:ext uri="{9D8B030D-6E8A-4147-A177-3AD203B41FA5}">
                      <a16:colId xmlns:a16="http://schemas.microsoft.com/office/drawing/2014/main" val="3222222565"/>
                    </a:ext>
                  </a:extLst>
                </a:gridCol>
                <a:gridCol w="1522883">
                  <a:extLst>
                    <a:ext uri="{9D8B030D-6E8A-4147-A177-3AD203B41FA5}">
                      <a16:colId xmlns:a16="http://schemas.microsoft.com/office/drawing/2014/main" val="3594958102"/>
                    </a:ext>
                  </a:extLst>
                </a:gridCol>
                <a:gridCol w="2051621">
                  <a:extLst>
                    <a:ext uri="{9D8B030D-6E8A-4147-A177-3AD203B41FA5}">
                      <a16:colId xmlns:a16="http://schemas.microsoft.com/office/drawing/2014/main" val="3802290543"/>
                    </a:ext>
                  </a:extLst>
                </a:gridCol>
                <a:gridCol w="4100824">
                  <a:extLst>
                    <a:ext uri="{9D8B030D-6E8A-4147-A177-3AD203B41FA5}">
                      <a16:colId xmlns:a16="http://schemas.microsoft.com/office/drawing/2014/main" val="3213534158"/>
                    </a:ext>
                  </a:extLst>
                </a:gridCol>
                <a:gridCol w="4100824">
                  <a:extLst>
                    <a:ext uri="{9D8B030D-6E8A-4147-A177-3AD203B41FA5}">
                      <a16:colId xmlns:a16="http://schemas.microsoft.com/office/drawing/2014/main" val="2275862884"/>
                    </a:ext>
                  </a:extLst>
                </a:gridCol>
              </a:tblGrid>
              <a:tr h="8393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S No.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Author(s) &amp; Year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Title / Focus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Method / Contribution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marL="45478" marR="45478" marT="36382" marB="36382" anchor="ctr"/>
                </a:tc>
                <a:extLst>
                  <a:ext uri="{0D108BD9-81ED-4DB2-BD59-A6C34878D82A}">
                    <a16:rowId xmlns:a16="http://schemas.microsoft.com/office/drawing/2014/main" val="3488222907"/>
                  </a:ext>
                </a:extLst>
              </a:tr>
              <a:tr h="1003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1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 err="1">
                          <a:effectLst/>
                        </a:rPr>
                        <a:t>Pontiki</a:t>
                      </a:r>
                      <a:r>
                        <a:rPr lang="en-IN" sz="1300" dirty="0">
                          <a:effectLst/>
                        </a:rPr>
                        <a:t> et al., 2014 (SemEval-2014 Task 4)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Aspect Based Sentiment Analysis (foundational ABSA task)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Introduced aspect-term extraction and aspect-level categorical polarity classification (restaurant &amp; laptop domains); established the ABSA task format later benchmarks build on.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Limited to discrete positive/negative/neutral polarity, cannot capture continuous emotional intensity, and covers only English restaurant/laptop domains.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extLst>
                  <a:ext uri="{0D108BD9-81ED-4DB2-BD59-A6C34878D82A}">
                    <a16:rowId xmlns:a16="http://schemas.microsoft.com/office/drawing/2014/main" val="1869499791"/>
                  </a:ext>
                </a:extLst>
              </a:tr>
              <a:tr h="817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2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 err="1">
                          <a:effectLst/>
                        </a:rPr>
                        <a:t>Pontiki</a:t>
                      </a:r>
                      <a:r>
                        <a:rPr lang="en-IN" sz="1300" dirty="0">
                          <a:effectLst/>
                        </a:rPr>
                        <a:t> et al., 2016 (SemEval-2016 Task 5)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Aspect Based Sentiment Analysis (extended, multilingual)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Extended ABSA to more domains and several languages; standardized aspect-category + polarity annotation schema across languages.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Standardizes categorical polarity across languages, but still no continuous valence-arousal dimension; no code-mixed language included.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extLst>
                  <a:ext uri="{0D108BD9-81ED-4DB2-BD59-A6C34878D82A}">
                    <a16:rowId xmlns:a16="http://schemas.microsoft.com/office/drawing/2014/main" val="3435268737"/>
                  </a:ext>
                </a:extLst>
              </a:tr>
              <a:tr h="10782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3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Mohammad, 2018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Obtaining Reliable Human Ratings of Valence, Arousal &amp; Dominance for 20,000 English Words (NRC-VAD Lexicon)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Built a large word-level lexicon of continuous Valence-Arousal-Dominance ratings using best-worst scaling; later extended with translations to 100+ languages including Hindi.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Provides only word-level (not aspect-level or sentence-level) VA scores; no mechanism to apply these priors to code-mixed or code-switched text specifically.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extLst>
                  <a:ext uri="{0D108BD9-81ED-4DB2-BD59-A6C34878D82A}">
                    <a16:rowId xmlns:a16="http://schemas.microsoft.com/office/drawing/2014/main" val="3627029922"/>
                  </a:ext>
                </a:extLst>
              </a:tr>
              <a:tr h="1057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4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Yu, Becker, Muhammad et al., 2026 (SemEval-2026 Task 3)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DimABSA: Dimensional Aspect-Based Sentiment Analysis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Introduced dimensional (valence-arousal) ABSA as regression instead of categorical polarity; 3 subtasks (regression, triplet, quadruplet extraction) across 11 languages; proposed the cF1 evaluation metric.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Defines dimensional ABSA across 11 languages, but </a:t>
                      </a:r>
                      <a:r>
                        <a:rPr lang="en-IN" sz="1300" b="0" dirty="0"/>
                        <a:t>none are code-mixed; </a:t>
                      </a:r>
                      <a:r>
                        <a:rPr lang="en-IN" sz="1300" dirty="0"/>
                        <a:t>arousal is reported as harder to predict than valence with no explanation given.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extLst>
                  <a:ext uri="{0D108BD9-81ED-4DB2-BD59-A6C34878D82A}">
                    <a16:rowId xmlns:a16="http://schemas.microsoft.com/office/drawing/2014/main" val="7956293"/>
                  </a:ext>
                </a:extLst>
              </a:tr>
              <a:tr h="925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5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Lee, Yu et al., 2026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 err="1">
                          <a:effectLst/>
                        </a:rPr>
                        <a:t>DimABSA</a:t>
                      </a:r>
                      <a:r>
                        <a:rPr lang="en-IN" sz="1300" dirty="0">
                          <a:effectLst/>
                        </a:rPr>
                        <a:t>: Building Multilingual and Multidomain Datasets for Dimensional ABSA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Describes construction methodology of the DimABSA multilingual/multidomain dataset used for the SemEval-2026 shared task.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Dataset-building methodology is designed for monolingual languages only, no guidance for annotating VA in code-mixed or code-switched text.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extLst>
                  <a:ext uri="{0D108BD9-81ED-4DB2-BD59-A6C34878D82A}">
                    <a16:rowId xmlns:a16="http://schemas.microsoft.com/office/drawing/2014/main" val="35006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F32BD0-78A8-1C3E-8552-63599FCCC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73995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465089">
                  <a:extLst>
                    <a:ext uri="{9D8B030D-6E8A-4147-A177-3AD203B41FA5}">
                      <a16:colId xmlns:a16="http://schemas.microsoft.com/office/drawing/2014/main" val="2963670745"/>
                    </a:ext>
                  </a:extLst>
                </a:gridCol>
                <a:gridCol w="1378096">
                  <a:extLst>
                    <a:ext uri="{9D8B030D-6E8A-4147-A177-3AD203B41FA5}">
                      <a16:colId xmlns:a16="http://schemas.microsoft.com/office/drawing/2014/main" val="4112018009"/>
                    </a:ext>
                  </a:extLst>
                </a:gridCol>
                <a:gridCol w="2070739">
                  <a:extLst>
                    <a:ext uri="{9D8B030D-6E8A-4147-A177-3AD203B41FA5}">
                      <a16:colId xmlns:a16="http://schemas.microsoft.com/office/drawing/2014/main" val="2208270753"/>
                    </a:ext>
                  </a:extLst>
                </a:gridCol>
                <a:gridCol w="4139038">
                  <a:extLst>
                    <a:ext uri="{9D8B030D-6E8A-4147-A177-3AD203B41FA5}">
                      <a16:colId xmlns:a16="http://schemas.microsoft.com/office/drawing/2014/main" val="3125162975"/>
                    </a:ext>
                  </a:extLst>
                </a:gridCol>
                <a:gridCol w="4139038">
                  <a:extLst>
                    <a:ext uri="{9D8B030D-6E8A-4147-A177-3AD203B41FA5}">
                      <a16:colId xmlns:a16="http://schemas.microsoft.com/office/drawing/2014/main" val="56541587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S No.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Author(s) &amp; Year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Title / Focus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Method / Contribution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marL="45478" marR="45478" marT="36382" marB="36382" anchor="ctr"/>
                </a:tc>
                <a:extLst>
                  <a:ext uri="{0D108BD9-81ED-4DB2-BD59-A6C34878D82A}">
                    <a16:rowId xmlns:a16="http://schemas.microsoft.com/office/drawing/2014/main" val="2664035725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6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 err="1">
                          <a:effectLst/>
                        </a:rPr>
                        <a:t>Gazetas</a:t>
                      </a:r>
                      <a:r>
                        <a:rPr lang="en-IN" sz="1300" dirty="0">
                          <a:effectLst/>
                        </a:rPr>
                        <a:t>, </a:t>
                      </a:r>
                      <a:r>
                        <a:rPr lang="en-IN" sz="1300" dirty="0" err="1">
                          <a:effectLst/>
                        </a:rPr>
                        <a:t>Filandrianos</a:t>
                      </a:r>
                      <a:r>
                        <a:rPr lang="en-IN" sz="1300" dirty="0">
                          <a:effectLst/>
                        </a:rPr>
                        <a:t> et al., 2026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AILS-NTUA at SemEval-2026 Task 3: Efficient Dimensional ABSA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Top-performing </a:t>
                      </a:r>
                      <a:r>
                        <a:rPr lang="en-IN" sz="1300" dirty="0" err="1">
                          <a:effectLst/>
                        </a:rPr>
                        <a:t>DimABSA</a:t>
                      </a:r>
                      <a:r>
                        <a:rPr lang="en-IN" sz="1300" dirty="0">
                          <a:effectLst/>
                        </a:rPr>
                        <a:t> system combining fine-tuned multilingual encoders for regression with </a:t>
                      </a:r>
                      <a:r>
                        <a:rPr lang="en-IN" sz="1300" dirty="0" err="1">
                          <a:effectLst/>
                        </a:rPr>
                        <a:t>LoRA</a:t>
                      </a:r>
                      <a:r>
                        <a:rPr lang="en-IN" sz="1300" dirty="0">
                          <a:effectLst/>
                        </a:rPr>
                        <a:t>-tuned LLMs for structured triplet/quadruplet extraction.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Achieves strong results only on </a:t>
                      </a:r>
                      <a:r>
                        <a:rPr lang="en-IN" sz="1300" dirty="0" err="1"/>
                        <a:t>DimABSA's</a:t>
                      </a:r>
                      <a:r>
                        <a:rPr lang="en-IN" sz="1300" dirty="0"/>
                        <a:t> monolingual languages; arousal prediction still lags valence, and the system was never tested on code-switching signals.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extLst>
                  <a:ext uri="{0D108BD9-81ED-4DB2-BD59-A6C34878D82A}">
                    <a16:rowId xmlns:a16="http://schemas.microsoft.com/office/drawing/2014/main" val="172603665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7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Zhu, Zhao, Wang et al., 2024 (SIGHAN-2024 </a:t>
                      </a:r>
                      <a:r>
                        <a:rPr lang="en-IN" sz="1300" dirty="0" err="1">
                          <a:effectLst/>
                        </a:rPr>
                        <a:t>dimABSA</a:t>
                      </a:r>
                      <a:r>
                        <a:rPr lang="en-IN" sz="1300" dirty="0">
                          <a:effectLst/>
                        </a:rPr>
                        <a:t> Task)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ZZU-NLP at SIGHAN-2024 </a:t>
                      </a:r>
                      <a:r>
                        <a:rPr lang="en-IN" sz="1300" dirty="0" err="1">
                          <a:effectLst/>
                        </a:rPr>
                        <a:t>dimABSA</a:t>
                      </a:r>
                      <a:r>
                        <a:rPr lang="en-IN" sz="1300" dirty="0">
                          <a:effectLst/>
                        </a:rPr>
                        <a:t> Task: Coarse-to-Fine In-Context Learning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Earlier (pre-DimABSA/SemEval-2026) dimensional ABSA system for Chinese restaurant reviews predicting per-aspect Valence and Arousal via a two-stage in-context-learning method with an LLM.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Precursor to </a:t>
                      </a:r>
                      <a:r>
                        <a:rPr lang="en-IN" sz="1300" dirty="0" err="1"/>
                        <a:t>DimABSA</a:t>
                      </a:r>
                      <a:r>
                        <a:rPr lang="en-IN" sz="1300" dirty="0"/>
                        <a:t> restricted to a single monolingual language (Chinese); no extension to code-mixed settings or code-switch-aware features.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extLst>
                  <a:ext uri="{0D108BD9-81ED-4DB2-BD59-A6C34878D82A}">
                    <a16:rowId xmlns:a16="http://schemas.microsoft.com/office/drawing/2014/main" val="2450997257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8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Aguilar et al., 2020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 err="1">
                          <a:effectLst/>
                        </a:rPr>
                        <a:t>LinCE</a:t>
                      </a:r>
                      <a:r>
                        <a:rPr lang="en-IN" sz="1300" dirty="0">
                          <a:effectLst/>
                        </a:rPr>
                        <a:t>: A Centralized Benchmark for Linguistic Code-Switching Evaluation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Centralized, standardized benchmark aggregating multiple code-switched NLP tasks (incl. Hinglish sentiment) for fair comparison.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Aggregates code-switched NLP tasks including sentiment, but only at the categorical level — no dimensional (valence-arousal) task included.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27287" marB="27287" anchor="ctr"/>
                </a:tc>
                <a:extLst>
                  <a:ext uri="{0D108BD9-81ED-4DB2-BD59-A6C34878D82A}">
                    <a16:rowId xmlns:a16="http://schemas.microsoft.com/office/drawing/2014/main" val="242179656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9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Khanuja et al., 2020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 err="1">
                          <a:effectLst/>
                        </a:rPr>
                        <a:t>GLUECoS</a:t>
                      </a:r>
                      <a:r>
                        <a:rPr lang="en-IN" sz="1300" dirty="0">
                          <a:effectLst/>
                        </a:rPr>
                        <a:t>: An Evaluation Benchmark for Code-Switched NLP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GLUE-style multi-task benchmark for code-switched Hindi-English and Spanish-English, including sentiment analysis.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Sentiment task in the benchmark is categorical classification only; no continuous intensity scoring for code-mixed text.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extLst>
                  <a:ext uri="{0D108BD9-81ED-4DB2-BD59-A6C34878D82A}">
                    <a16:rowId xmlns:a16="http://schemas.microsoft.com/office/drawing/2014/main" val="3525104979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10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Joshi et al., 2016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Hinglish Sentiment Analysis Dataset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~3,879 Hindi-English code-mixed Facebook posts annotated with 3-class sentiment; one of the earliest Hinglish sentiment resources.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Small-scale, 3-class sentiment labels only — no aspect-level annotation and no continuous valence-arousal scoring.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extLst>
                  <a:ext uri="{0D108BD9-81ED-4DB2-BD59-A6C34878D82A}">
                    <a16:rowId xmlns:a16="http://schemas.microsoft.com/office/drawing/2014/main" val="1761606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471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4A8ACD-F75B-A348-5DB8-7A1BC639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104F9A9C-82DA-5382-07FD-7B7356C8DE57}"/>
              </a:ext>
            </a:extLst>
          </p:cNvPr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0335C7A-EF13-15FE-A83D-013F03E07ED0}"/>
              </a:ext>
            </a:extLst>
          </p:cNvPr>
          <p:cNvSpPr/>
          <p:nvPr/>
        </p:nvSpPr>
        <p:spPr>
          <a:xfrm>
            <a:off x="457200" y="1874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9FE8A78-0244-519D-062B-9710662B5EA0}"/>
              </a:ext>
            </a:extLst>
          </p:cNvPr>
          <p:cNvSpPr/>
          <p:nvPr/>
        </p:nvSpPr>
        <p:spPr>
          <a:xfrm>
            <a:off x="3291840" y="1874520"/>
            <a:ext cx="553212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Work</a:t>
            </a: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947D146-28B3-CDAF-2BA7-B2B192CFFBC2}"/>
              </a:ext>
            </a:extLst>
          </p:cNvPr>
          <p:cNvSpPr/>
          <p:nvPr/>
        </p:nvSpPr>
        <p:spPr>
          <a:xfrm>
            <a:off x="8823960" y="18745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1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0D2C1D9-37FA-41C8-0DE0-5E79A449F81E}"/>
              </a:ext>
            </a:extLst>
          </p:cNvPr>
          <p:cNvSpPr/>
          <p:nvPr/>
        </p:nvSpPr>
        <p:spPr>
          <a:xfrm>
            <a:off x="685800" y="5623560"/>
            <a:ext cx="10835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DF6FA7A-F576-822F-0A45-98A77692C3D8}"/>
              </a:ext>
            </a:extLst>
          </p:cNvPr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59772B2-6610-0E86-520E-4288BC80E2E5}"/>
              </a:ext>
            </a:extLst>
          </p:cNvPr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8D49E55-0B7B-49B6-0586-E2D2DD828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446916"/>
              </p:ext>
            </p:extLst>
          </p:nvPr>
        </p:nvGraphicFramePr>
        <p:xfrm>
          <a:off x="0" y="0"/>
          <a:ext cx="12192000" cy="6857999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435389">
                  <a:extLst>
                    <a:ext uri="{9D8B030D-6E8A-4147-A177-3AD203B41FA5}">
                      <a16:colId xmlns:a16="http://schemas.microsoft.com/office/drawing/2014/main" val="3222222565"/>
                    </a:ext>
                  </a:extLst>
                </a:gridCol>
                <a:gridCol w="1273464">
                  <a:extLst>
                    <a:ext uri="{9D8B030D-6E8A-4147-A177-3AD203B41FA5}">
                      <a16:colId xmlns:a16="http://schemas.microsoft.com/office/drawing/2014/main" val="3594958102"/>
                    </a:ext>
                  </a:extLst>
                </a:gridCol>
                <a:gridCol w="2205072">
                  <a:extLst>
                    <a:ext uri="{9D8B030D-6E8A-4147-A177-3AD203B41FA5}">
                      <a16:colId xmlns:a16="http://schemas.microsoft.com/office/drawing/2014/main" val="3802290543"/>
                    </a:ext>
                  </a:extLst>
                </a:gridCol>
                <a:gridCol w="4378388">
                  <a:extLst>
                    <a:ext uri="{9D8B030D-6E8A-4147-A177-3AD203B41FA5}">
                      <a16:colId xmlns:a16="http://schemas.microsoft.com/office/drawing/2014/main" val="3213534158"/>
                    </a:ext>
                  </a:extLst>
                </a:gridCol>
                <a:gridCol w="3899687">
                  <a:extLst>
                    <a:ext uri="{9D8B030D-6E8A-4147-A177-3AD203B41FA5}">
                      <a16:colId xmlns:a16="http://schemas.microsoft.com/office/drawing/2014/main" val="2275862884"/>
                    </a:ext>
                  </a:extLst>
                </a:gridCol>
              </a:tblGrid>
              <a:tr h="879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S No.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Author(s) &amp; Year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Title / Focus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Method / Contribution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marL="45478" marR="45478" marT="36382" marB="36382" anchor="ctr"/>
                </a:tc>
                <a:extLst>
                  <a:ext uri="{0D108BD9-81ED-4DB2-BD59-A6C34878D82A}">
                    <a16:rowId xmlns:a16="http://schemas.microsoft.com/office/drawing/2014/main" val="3488222907"/>
                  </a:ext>
                </a:extLst>
              </a:tr>
              <a:tr h="1213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11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Raihan, Goswami et al., 2024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Code-Mixed Sentiment and Hate-Speech Prediction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Studies joint sentiment and hate-speech prediction on code-mixed social media text, evaluating multilingual transformer models across code-mixed language pairs.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Focuses on categorical sentiment/hate-speech jointly; does not address aspect-level or dimensional (continuous intensity) sentiment.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extLst>
                  <a:ext uri="{0D108BD9-81ED-4DB2-BD59-A6C34878D82A}">
                    <a16:rowId xmlns:a16="http://schemas.microsoft.com/office/drawing/2014/main" val="1233195493"/>
                  </a:ext>
                </a:extLst>
              </a:tr>
              <a:tr h="1168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12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Nayak &amp; Joshi, 2022 (L3Cube)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L3Cube-HingCorpus and </a:t>
                      </a:r>
                      <a:r>
                        <a:rPr lang="en-IN" sz="1300" dirty="0" err="1">
                          <a:effectLst/>
                        </a:rPr>
                        <a:t>HingBERT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Released the largest real Hindi-English code-mixed corpus (52.9M sentences, 1.04B tokens, scraped from Twitter) plus pretrained </a:t>
                      </a:r>
                      <a:r>
                        <a:rPr lang="en-IN" sz="1300" dirty="0" err="1">
                          <a:effectLst/>
                        </a:rPr>
                        <a:t>HingBERT</a:t>
                      </a:r>
                      <a:r>
                        <a:rPr lang="en-IN" sz="1300" dirty="0">
                          <a:effectLst/>
                        </a:rPr>
                        <a:t>/</a:t>
                      </a:r>
                      <a:r>
                        <a:rPr lang="en-IN" sz="1300" dirty="0" err="1">
                          <a:effectLst/>
                        </a:rPr>
                        <a:t>HingMBERT</a:t>
                      </a:r>
                      <a:r>
                        <a:rPr lang="en-IN" sz="1300" dirty="0">
                          <a:effectLst/>
                        </a:rPr>
                        <a:t>/</a:t>
                      </a:r>
                      <a:r>
                        <a:rPr lang="en-IN" sz="1300" dirty="0" err="1">
                          <a:effectLst/>
                        </a:rPr>
                        <a:t>HingRoBERTa</a:t>
                      </a:r>
                      <a:r>
                        <a:rPr lang="en-IN" sz="1300" dirty="0">
                          <a:effectLst/>
                        </a:rPr>
                        <a:t> language models.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Provides raw corpus and encoders for Hinglish, but no sentiment or VA annotations at all — a resource gap, not a task-level one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extLst>
                  <a:ext uri="{0D108BD9-81ED-4DB2-BD59-A6C34878D82A}">
                    <a16:rowId xmlns:a16="http://schemas.microsoft.com/office/drawing/2014/main" val="2066837582"/>
                  </a:ext>
                </a:extLst>
              </a:tr>
              <a:tr h="1168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13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Sheth, Nisar et al., 2025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COMI-LINGUA: Expert-Annotated Large-Scale Dataset for Multitask NLP in Hindi-English Code-Mixing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181,463-instance, expert-annotated Hinglish dataset covering language identification, matrix-language identification, POS tagging, NER, normalization, and translation.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Covers language ID, POS, NER, normalization, translation — but no aspect-based or dimensional sentiment annotation layer.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extLst>
                  <a:ext uri="{0D108BD9-81ED-4DB2-BD59-A6C34878D82A}">
                    <a16:rowId xmlns:a16="http://schemas.microsoft.com/office/drawing/2014/main" val="2001823630"/>
                  </a:ext>
                </a:extLst>
              </a:tr>
              <a:tr h="1213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14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Wu, Ma, Liu et al., 2025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effectLst/>
                        </a:rPr>
                        <a:t>M-ABSA: A Multilingual Dataset for Aspect-Based Sentiment Analysis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Extends ABSA to multiple languages with parallel aspect-sentiment annotations across domains, following the SemEval ABSA schema.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Multilingual in scope but not code-mixed — each language is annotated monolingually; categorical polarity only, not continuous VA.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extLst>
                  <a:ext uri="{0D108BD9-81ED-4DB2-BD59-A6C34878D82A}">
                    <a16:rowId xmlns:a16="http://schemas.microsoft.com/office/drawing/2014/main" val="1889555412"/>
                  </a:ext>
                </a:extLst>
              </a:tr>
              <a:tr h="1213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15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Sterner &amp; Teufel, 2025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Code-Switching and Syntax: A Large-Scale Experiment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effectLst/>
                        </a:rPr>
                        <a:t>Large-scale computational analysis of the syntactic structure of code-switched text, testing linguistic-theory predictions (e.g. equivalence constraints) against real code-switching data at scale.</a:t>
                      </a: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2761" marR="42761" marT="25656" marB="256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Shows switch points follow predictable syntactic structure, but never connects switch location to sentiment or emotional intensity.</a:t>
                      </a:r>
                      <a:endParaRPr lang="en-IN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5478" marR="45478" marT="36382" marB="36382" anchor="ctr"/>
                </a:tc>
                <a:extLst>
                  <a:ext uri="{0D108BD9-81ED-4DB2-BD59-A6C34878D82A}">
                    <a16:rowId xmlns:a16="http://schemas.microsoft.com/office/drawing/2014/main" val="2874976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75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Objectives, Scope &amp; Expected Outcomes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first dimensional (valence-arousal) ABSA dataset for Hindi-English code-mixed text, annotated over Hinglish reviews/social posts using token-level language labels.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NSSG-DimNet: a switch-gated, neuro-symbolic dual-graph model that explicitly encodes code-switch position as a feature for aspect-level VA regression.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6576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multilingual-encoder baseline (e.g. HingRoBERTa / mDeBERTa) and test whether switch-awareness improves arousal prediction beyond it.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5262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standard </a:t>
            </a:r>
            <a:r>
              <a:rPr lang="en-US" sz="1600" dirty="0" err="1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DimABSA</a:t>
            </a: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style metrics (e.g. Pearson r, MAE) for valence and arousal, per aspect.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75120" y="1554480"/>
            <a:ext cx="5074920" cy="2103120"/>
          </a:xfrm>
          <a:prstGeom prst="roundRect">
            <a:avLst>
              <a:gd name="adj" fmla="val 347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03720" y="201168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Hindi-English code-mixed text only; aspect-level valence &amp; arousal regression; single-domain pilot (reviews/social media).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other Indian language pairs, discrete emotion classification, real-time/production deployment.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75120" y="3840480"/>
            <a:ext cx="5074920" cy="2240280"/>
          </a:xfrm>
          <a:prstGeom prst="roundRect">
            <a:avLst>
              <a:gd name="adj" fmla="val 3265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0372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03720" y="4297680"/>
            <a:ext cx="4617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released Hindi-English DimABSA dataset filling a genuine resource gap.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NSSG-DimNet baseline results showing whether switch-awareness narrows the arousal-prediction gap seen across all 11 DimABSA languages.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switch-gated architecture applicable to other code-mixed language pairs.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Proposed Methodology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097634" cy="3520440"/>
          </a:xfrm>
          <a:prstGeom prst="roundRect">
            <a:avLst>
              <a:gd name="adj" fmla="val 3487"/>
            </a:avLst>
          </a:prstGeom>
          <a:solidFill>
            <a:srgbClr val="F7F9FC"/>
          </a:solidFill>
          <a:ln w="12700">
            <a:solidFill>
              <a:srgbClr val="E1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856232"/>
            <a:ext cx="18233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313432"/>
            <a:ext cx="182331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Language Labelling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182331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Hinglish sentences (L3Cube-HingCorpus style); tag each token's language; compute Language Switch Distance per token.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56002" y="1691640"/>
            <a:ext cx="2097634" cy="3520440"/>
          </a:xfrm>
          <a:prstGeom prst="roundRect">
            <a:avLst>
              <a:gd name="adj" fmla="val 3487"/>
            </a:avLst>
          </a:prstGeom>
          <a:solidFill>
            <a:srgbClr val="F7F9FC"/>
          </a:solidFill>
          <a:ln w="12700">
            <a:solidFill>
              <a:srgbClr val="E1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93162" y="1856232"/>
            <a:ext cx="18233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93162" y="2313432"/>
            <a:ext cx="182331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Switch-Gating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93162" y="2971800"/>
            <a:ext cx="196816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with a multilingual transformer (HingRoBERTa / mDeBERTa); add Switch Positional Embeddings; fuse via Switch-Point Gated Attention.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54803" y="1691640"/>
            <a:ext cx="2097634" cy="3520440"/>
          </a:xfrm>
          <a:prstGeom prst="roundRect">
            <a:avLst>
              <a:gd name="adj" fmla="val 3487"/>
            </a:avLst>
          </a:prstGeom>
          <a:solidFill>
            <a:srgbClr val="F7F9FC"/>
          </a:solidFill>
          <a:ln w="12700">
            <a:solidFill>
              <a:srgbClr val="E1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91963" y="1856232"/>
            <a:ext cx="18233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91963" y="2313432"/>
            <a:ext cx="182331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Dual-Branch Processing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91963" y="2971800"/>
            <a:ext cx="193304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1: biaffine aspect-opinion span extraction. Branch 2: heterogeneous graph reasoning seeded with NRC-VAD affective priors.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53605" y="1691640"/>
            <a:ext cx="2097634" cy="3520440"/>
          </a:xfrm>
          <a:prstGeom prst="roundRect">
            <a:avLst>
              <a:gd name="adj" fmla="val 3487"/>
            </a:avLst>
          </a:prstGeom>
          <a:solidFill>
            <a:srgbClr val="F7F9FC"/>
          </a:solidFill>
          <a:ln w="12700">
            <a:solidFill>
              <a:srgbClr val="E1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0765" y="1856232"/>
            <a:ext cx="18233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490765" y="2313432"/>
            <a:ext cx="182331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&amp; Regression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90765" y="2971800"/>
            <a:ext cx="182331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Aspect-guided mutual cross-attention fuses both branches; two regression heads output continuous Valence and Arousal per aspect.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52406" y="1691640"/>
            <a:ext cx="2097634" cy="3520440"/>
          </a:xfrm>
          <a:prstGeom prst="roundRect">
            <a:avLst>
              <a:gd name="adj" fmla="val 3487"/>
            </a:avLst>
          </a:prstGeom>
          <a:solidFill>
            <a:srgbClr val="F7F9FC"/>
          </a:solidFill>
          <a:ln w="12700">
            <a:solidFill>
              <a:srgbClr val="E1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89566" y="1856232"/>
            <a:ext cx="18233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789566" y="2313432"/>
            <a:ext cx="182331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789566" y="2971800"/>
            <a:ext cx="182331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a switch-unaware multilingual-encoder baseline using Pearson correlation and MAE for valence and arousal.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27402" y="3305556"/>
            <a:ext cx="164592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6203" y="33055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25005" y="33055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23806" y="33055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615492C1-9164-80F5-A9B3-1A1892C79AE4}"/>
              </a:ext>
            </a:extLst>
          </p:cNvPr>
          <p:cNvSpPr/>
          <p:nvPr/>
        </p:nvSpPr>
        <p:spPr>
          <a:xfrm>
            <a:off x="2384214" y="3248991"/>
            <a:ext cx="478401" cy="18288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82FCF589-46D4-E465-AA2E-1F04BF362902}"/>
              </a:ext>
            </a:extLst>
          </p:cNvPr>
          <p:cNvSpPr/>
          <p:nvPr/>
        </p:nvSpPr>
        <p:spPr>
          <a:xfrm>
            <a:off x="4705874" y="3273552"/>
            <a:ext cx="478401" cy="18288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8D293C2C-C20F-35B1-8E19-E3F2C56E5ACF}"/>
              </a:ext>
            </a:extLst>
          </p:cNvPr>
          <p:cNvSpPr/>
          <p:nvPr/>
        </p:nvSpPr>
        <p:spPr>
          <a:xfrm>
            <a:off x="7045825" y="3273552"/>
            <a:ext cx="478401" cy="18288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6623DDEA-69B6-A07A-C8ED-C899D6E88764}"/>
              </a:ext>
            </a:extLst>
          </p:cNvPr>
          <p:cNvSpPr/>
          <p:nvPr/>
        </p:nvSpPr>
        <p:spPr>
          <a:xfrm>
            <a:off x="9352607" y="3291840"/>
            <a:ext cx="478401" cy="18288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3651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System Architecture — NSSG-DimNet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897112" y="457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99437" y="4937760"/>
            <a:ext cx="19568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46520" y="31089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347472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224F4D-4BA4-7B5E-463E-F646C4C2D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2291"/>
            <a:ext cx="10757574" cy="58725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6C016F-9752-A3B9-CAA6-FC2269CD2A0D}"/>
                  </a:ext>
                </a:extLst>
              </p:cNvPr>
              <p:cNvSpPr txBox="1"/>
              <p:nvPr/>
            </p:nvSpPr>
            <p:spPr>
              <a:xfrm>
                <a:off x="467833" y="1145061"/>
                <a:ext cx="9664995" cy="51398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/>
                  <a:t>Work done: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b="1" dirty="0"/>
                  <a:t>Literature review</a:t>
                </a:r>
                <a:r>
                  <a:rPr lang="en-IN" dirty="0"/>
                  <a:t> — </a:t>
                </a:r>
                <a:r>
                  <a:rPr lang="en-IN" dirty="0" err="1"/>
                  <a:t>Analyzed</a:t>
                </a:r>
                <a:r>
                  <a:rPr lang="en-IN" dirty="0"/>
                  <a:t> 19 papers, identified 5 research gaps supporting the need for a Hindi-English dimensional ABSA solution.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b="1" dirty="0"/>
                  <a:t>Problem &amp; objectives defined</a:t>
                </a:r>
                <a:r>
                  <a:rPr lang="en-IN" dirty="0"/>
                  <a:t> — Finalized scope, key challenges, and 5 research objectives for the project.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IN" b="1" dirty="0"/>
                  <a:t>Architecture designed</a:t>
                </a:r>
                <a:r>
                  <a:rPr lang="en-IN" dirty="0"/>
                  <a:t> — Proposed NSSG-</a:t>
                </a:r>
                <a:r>
                  <a:rPr lang="en-IN" dirty="0" err="1"/>
                  <a:t>DimNet</a:t>
                </a:r>
                <a:r>
                  <a:rPr lang="en-IN" dirty="0"/>
                  <a:t> pipeline (switch-gated encoding, dual-branch processing, fusion, VA regression heads), ready for implementation.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IN" dirty="0"/>
              </a:p>
              <a:p>
                <a:pPr rtl="0">
                  <a:buNone/>
                </a:pPr>
                <a:r>
                  <a:rPr lang="en-IN" sz="2000" b="1" dirty="0"/>
                  <a:t>Future Work:</a:t>
                </a:r>
                <a:endParaRPr lang="en-IN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Dataset Construction &amp; Annotation:</a:t>
                </a:r>
                <a:r>
                  <a:rPr lang="en-IN" dirty="0"/>
                  <a:t> Collect and preprocess a domain-diverse code-mixed Hinglish corpus, followed by human and semi-supervised continuous annotation for Aspect-Opinion-Valence-Arousal quadruplets calibrated to the NRC-VAD metric scale (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0.000</m:t>
                    </m:r>
                  </m:oMath>
                </a14:m>
                <a:r>
                  <a:rPr lang="en-IN" dirty="0"/>
                  <a:t> to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1.000</m:t>
                    </m:r>
                  </m:oMath>
                </a14:m>
                <a:r>
                  <a:rPr lang="en-IN" dirty="0"/>
                  <a:t>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Baseline Development &amp; Benchmarking:</a:t>
                </a:r>
                <a:r>
                  <a:rPr lang="en-IN" dirty="0"/>
                  <a:t> Implement and train standard switch-unaware multilingual transformer baselines (e.g., XLM-</a:t>
                </a:r>
                <a:r>
                  <a:rPr lang="en-IN" dirty="0" err="1"/>
                  <a:t>RoBERTa</a:t>
                </a:r>
                <a:r>
                  <a:rPr lang="en-IN" dirty="0"/>
                  <a:t>, </a:t>
                </a:r>
                <a:r>
                  <a:rPr lang="en-IN" dirty="0" err="1"/>
                  <a:t>HingRoBERTa</a:t>
                </a:r>
                <a:r>
                  <a:rPr lang="en-IN" dirty="0"/>
                  <a:t>, </a:t>
                </a:r>
                <a:r>
                  <a:rPr lang="en-IN" dirty="0" err="1"/>
                  <a:t>IndicBERT</a:t>
                </a:r>
                <a:r>
                  <a:rPr lang="en-IN" dirty="0"/>
                  <a:t>) for continuous Valence and Arousal regression.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b="1" dirty="0"/>
                  <a:t>NSSG-</a:t>
                </a:r>
                <a:r>
                  <a:rPr lang="en-IN" b="1" dirty="0" err="1"/>
                  <a:t>DimNet</a:t>
                </a:r>
                <a:r>
                  <a:rPr lang="en-IN" b="1" dirty="0"/>
                  <a:t> Architecture Implementation:</a:t>
                </a:r>
                <a:r>
                  <a:rPr lang="en-IN" dirty="0"/>
                  <a:t> Build the full </a:t>
                </a:r>
                <a:r>
                  <a:rPr lang="en-IN" dirty="0" err="1"/>
                  <a:t>PyTorch</a:t>
                </a:r>
                <a:r>
                  <a:rPr lang="en-IN" dirty="0"/>
                  <a:t> pipeline, including Directional Switch-Distance Position Embeddings, Switch-Point Gated Self-Attention (SP-GSA), and the Biaffine Aspect-Opinion Span Extractor.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6C016F-9752-A3B9-CAA6-FC2269CD2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33" y="1145061"/>
                <a:ext cx="9664995" cy="5139869"/>
              </a:xfrm>
              <a:prstGeom prst="rect">
                <a:avLst/>
              </a:prstGeom>
              <a:blipFill>
                <a:blip r:embed="rId2"/>
                <a:stretch>
                  <a:fillRect l="-694" t="-712" r="-820" b="-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FA4C865-7C74-D78C-3406-1844E7AB03DF}"/>
              </a:ext>
            </a:extLst>
          </p:cNvPr>
          <p:cNvSpPr txBox="1"/>
          <p:nvPr/>
        </p:nvSpPr>
        <p:spPr>
          <a:xfrm>
            <a:off x="467833" y="352607"/>
            <a:ext cx="97500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Work done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510938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72191A-81B0-7CAB-2CA7-208DFFD82AC1}"/>
              </a:ext>
            </a:extLst>
          </p:cNvPr>
          <p:cNvSpPr txBox="1"/>
          <p:nvPr/>
        </p:nvSpPr>
        <p:spPr>
          <a:xfrm>
            <a:off x="560868" y="501134"/>
            <a:ext cx="6097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DA419D-D65D-AC59-F9D8-EDE011BB1775}"/>
              </a:ext>
            </a:extLst>
          </p:cNvPr>
          <p:cNvSpPr txBox="1"/>
          <p:nvPr/>
        </p:nvSpPr>
        <p:spPr>
          <a:xfrm>
            <a:off x="560869" y="1116419"/>
            <a:ext cx="1117747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[1] </a:t>
            </a:r>
            <a:r>
              <a:rPr lang="en-IN" sz="1600" dirty="0" err="1"/>
              <a:t>Pontiki</a:t>
            </a:r>
            <a:r>
              <a:rPr lang="en-IN" sz="1600" dirty="0"/>
              <a:t>, M. et al. (2014). SemEval-2014 Task 4: Aspect Based Sentiment Analysis. Proceedings of SemEval 2014, 27–35.  </a:t>
            </a:r>
            <a:r>
              <a:rPr lang="en-IN" sz="1600" dirty="0">
                <a:hlinkClick r:id="rId2"/>
              </a:rPr>
              <a:t>https://doi.org/10.3115/v1/S14-2004</a:t>
            </a:r>
            <a:endParaRPr lang="en-IN" sz="1600" dirty="0"/>
          </a:p>
          <a:p>
            <a:r>
              <a:rPr lang="en-IN" sz="1600" b="1" dirty="0"/>
              <a:t>[2] </a:t>
            </a:r>
            <a:r>
              <a:rPr lang="en-IN" sz="1600" dirty="0" err="1"/>
              <a:t>Pontiki</a:t>
            </a:r>
            <a:r>
              <a:rPr lang="en-IN" sz="1600" dirty="0"/>
              <a:t>, M. et al. (2016). SemEval-2016 Task 5: Aspect Based Sentiment Analysis. Proceedings of SemEval 2016, 19–30.  </a:t>
            </a:r>
            <a:r>
              <a:rPr lang="en-IN" sz="1600" dirty="0">
                <a:hlinkClick r:id="rId3"/>
              </a:rPr>
              <a:t>https://doi.org/10.18653/v1/S16-1002</a:t>
            </a:r>
            <a:endParaRPr lang="en-IN" sz="1600" dirty="0"/>
          </a:p>
          <a:p>
            <a:r>
              <a:rPr lang="en-IN" sz="1600" b="1" dirty="0"/>
              <a:t>[3] </a:t>
            </a:r>
            <a:r>
              <a:rPr lang="en-IN" sz="1600" dirty="0"/>
              <a:t>Mohammad, S. (2018). Obtaining Reliable Human Ratings of Valence, Arousal, and Dominance for 20,000 English Words. Proceedings of ACL 2018, 174–184.  </a:t>
            </a:r>
            <a:r>
              <a:rPr lang="en-IN" sz="1600" dirty="0">
                <a:hlinkClick r:id="rId4"/>
              </a:rPr>
              <a:t>https://doi.org/10.18653/v1/P18-1017</a:t>
            </a:r>
            <a:endParaRPr lang="en-IN" sz="1600" dirty="0"/>
          </a:p>
          <a:p>
            <a:r>
              <a:rPr lang="en-IN" sz="1600" b="1" dirty="0"/>
              <a:t>[4] </a:t>
            </a:r>
            <a:r>
              <a:rPr lang="en-IN" sz="1600" dirty="0"/>
              <a:t>Yu, L.-C., Becker, J., Muhammad, S.H. et al. (2026). SemEval-2026 Task 3: Dimensional Aspect-Based Sentiment Analysis (</a:t>
            </a:r>
            <a:r>
              <a:rPr lang="en-IN" sz="1600" dirty="0" err="1"/>
              <a:t>DimABSA</a:t>
            </a:r>
            <a:r>
              <a:rPr lang="en-IN" sz="1600" dirty="0"/>
              <a:t>).  </a:t>
            </a:r>
            <a:r>
              <a:rPr lang="en-IN" sz="1600" dirty="0">
                <a:hlinkClick r:id="rId5"/>
              </a:rPr>
              <a:t>https://arxiv.org/abs/2604.07066</a:t>
            </a:r>
            <a:endParaRPr lang="en-IN" sz="1600" dirty="0"/>
          </a:p>
          <a:p>
            <a:r>
              <a:rPr lang="en-IN" sz="1600" b="1" dirty="0"/>
              <a:t>[5] </a:t>
            </a:r>
            <a:r>
              <a:rPr lang="en-IN" sz="1600" dirty="0"/>
              <a:t>Lee, L.-H., Yu, L.-C. et al. (2026). </a:t>
            </a:r>
            <a:r>
              <a:rPr lang="en-IN" sz="1600" dirty="0" err="1"/>
              <a:t>DimABSA</a:t>
            </a:r>
            <a:r>
              <a:rPr lang="en-IN" sz="1600" dirty="0"/>
              <a:t>: Building Multilingual and Multidomain Datasets for Dimensional Aspect-Based Sentiment Analysis.  </a:t>
            </a:r>
            <a:r>
              <a:rPr lang="en-IN" sz="1600" dirty="0">
                <a:hlinkClick r:id="rId6"/>
              </a:rPr>
              <a:t>https://arxiv.org/abs/2601.23022</a:t>
            </a:r>
            <a:endParaRPr lang="en-IN" sz="1600" dirty="0"/>
          </a:p>
          <a:p>
            <a:r>
              <a:rPr lang="en-IN" sz="1600" b="1" dirty="0"/>
              <a:t>[6] </a:t>
            </a:r>
            <a:r>
              <a:rPr lang="en-IN" sz="1600" dirty="0" err="1"/>
              <a:t>Gazetas</a:t>
            </a:r>
            <a:r>
              <a:rPr lang="en-IN" sz="1600" dirty="0"/>
              <a:t>, S., </a:t>
            </a:r>
            <a:r>
              <a:rPr lang="en-IN" sz="1600" dirty="0" err="1"/>
              <a:t>Filandrianos</a:t>
            </a:r>
            <a:r>
              <a:rPr lang="en-IN" sz="1600" dirty="0"/>
              <a:t>, G. et al. (2026). AILS-NTUA at SemEval-2026 Task 3: Efficient Dimensional Aspect-Based Sentiment Analysis.  </a:t>
            </a:r>
            <a:r>
              <a:rPr lang="en-IN" sz="1600" dirty="0">
                <a:hlinkClick r:id="rId7"/>
              </a:rPr>
              <a:t>https://arxiv.org/abs/2603.04933</a:t>
            </a:r>
            <a:endParaRPr lang="en-IN" sz="1600" dirty="0"/>
          </a:p>
          <a:p>
            <a:r>
              <a:rPr lang="en-IN" sz="1600" b="1" dirty="0"/>
              <a:t>[7] </a:t>
            </a:r>
            <a:r>
              <a:rPr lang="en-IN" sz="1600" dirty="0"/>
              <a:t>Zhu, S., Zhao, H., Wang, X. et al. (2024). ZZU-NLP at SIGHAN-2024 </a:t>
            </a:r>
            <a:r>
              <a:rPr lang="en-IN" sz="1600" dirty="0" err="1"/>
              <a:t>dimABSA</a:t>
            </a:r>
            <a:r>
              <a:rPr lang="en-IN" sz="1600" dirty="0"/>
              <a:t> Task: Aspect-Based Sentiment Analysis with Coarse-to-Fine In-Context Learning.  </a:t>
            </a:r>
            <a:r>
              <a:rPr lang="en-IN" sz="1600" dirty="0">
                <a:hlinkClick r:id="rId8"/>
              </a:rPr>
              <a:t>https://arxiv.org/abs/2407.15341</a:t>
            </a:r>
            <a:endParaRPr lang="en-IN" sz="1600" dirty="0"/>
          </a:p>
          <a:p>
            <a:r>
              <a:rPr lang="en-IN" sz="1600" b="1" dirty="0"/>
              <a:t>[8] </a:t>
            </a:r>
            <a:r>
              <a:rPr lang="en-IN" sz="1600" dirty="0"/>
              <a:t>Aguilar, G., Kar, S., Solorio, T. (2020). </a:t>
            </a:r>
            <a:r>
              <a:rPr lang="en-IN" sz="1600" dirty="0" err="1"/>
              <a:t>LinCE</a:t>
            </a:r>
            <a:r>
              <a:rPr lang="en-IN" sz="1600" dirty="0"/>
              <a:t>: A Centralized Benchmark for Linguistic Code-switching Evaluation. Proceedings of LREC 2020, 1803–1813.  </a:t>
            </a:r>
            <a:r>
              <a:rPr lang="en-IN" sz="1600" dirty="0">
                <a:hlinkClick r:id="rId9"/>
              </a:rPr>
              <a:t>https://aclanthology.org/2020.lrec-1.223/</a:t>
            </a:r>
            <a:endParaRPr lang="en-IN" sz="1600" dirty="0"/>
          </a:p>
          <a:p>
            <a:r>
              <a:rPr lang="en-IN" sz="1600" b="1" dirty="0"/>
              <a:t>[9] </a:t>
            </a:r>
            <a:r>
              <a:rPr lang="en-IN" sz="1600" dirty="0"/>
              <a:t>Khanuja, S., </a:t>
            </a:r>
            <a:r>
              <a:rPr lang="en-IN" sz="1600" dirty="0" err="1"/>
              <a:t>Dandapat</a:t>
            </a:r>
            <a:r>
              <a:rPr lang="en-IN" sz="1600" dirty="0"/>
              <a:t>, S., Srinivasan, A., Sitaram, S., Choudhury, M. (2020). </a:t>
            </a:r>
            <a:r>
              <a:rPr lang="en-IN" sz="1600" dirty="0" err="1"/>
              <a:t>GLUECoS</a:t>
            </a:r>
            <a:r>
              <a:rPr lang="en-IN" sz="1600" dirty="0"/>
              <a:t>: An Evaluation Benchmark for Code-Switched NLP. Proceedings of ACL 2020, 3575–3585.  </a:t>
            </a:r>
            <a:r>
              <a:rPr lang="en-IN" sz="1600" dirty="0">
                <a:hlinkClick r:id="rId10"/>
              </a:rPr>
              <a:t>https://doi.org/10.18653/v1/2020.acl-main.329</a:t>
            </a:r>
            <a:endParaRPr lang="en-IN" sz="1600" dirty="0"/>
          </a:p>
          <a:p>
            <a:r>
              <a:rPr lang="en-IN" sz="1600" b="1" dirty="0"/>
              <a:t>[10] </a:t>
            </a:r>
            <a:r>
              <a:rPr lang="en-IN" sz="1600" dirty="0"/>
              <a:t>Joshi, A., Prabhu, A., Shrivastava, M., Varma, V. (2016). Towards Sub-Word Level Compositions for Sentiment Analysis of Hindi-English Code Mixed Text. Proceedings of COLING 2016, 2482–2491.  </a:t>
            </a:r>
            <a:r>
              <a:rPr lang="en-IN" sz="1600" dirty="0">
                <a:hlinkClick r:id="rId11"/>
              </a:rPr>
              <a:t>https://aclanthology.org/C16-1234/</a:t>
            </a:r>
            <a:endParaRPr lang="en-IN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62085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4A9356-495F-46CD-13F3-87BD47FE1C3D}"/>
              </a:ext>
            </a:extLst>
          </p:cNvPr>
          <p:cNvSpPr txBox="1"/>
          <p:nvPr/>
        </p:nvSpPr>
        <p:spPr>
          <a:xfrm>
            <a:off x="255182" y="627320"/>
            <a:ext cx="1138746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[11] </a:t>
            </a:r>
            <a:r>
              <a:rPr lang="en-IN" sz="1600" dirty="0"/>
              <a:t>Raihan, N., Goswami, D. et al. (2024). Code-Mixed Sentiment and Hate-Speech Prediction.  </a:t>
            </a:r>
            <a:r>
              <a:rPr lang="en-IN" sz="1600" dirty="0">
                <a:hlinkClick r:id="rId2"/>
              </a:rPr>
              <a:t>https://arxiv.org/abs/2405.12929</a:t>
            </a:r>
            <a:endParaRPr lang="en-IN" sz="1600" dirty="0"/>
          </a:p>
          <a:p>
            <a:r>
              <a:rPr lang="en-IN" sz="1600" b="1" dirty="0"/>
              <a:t>[12] </a:t>
            </a:r>
            <a:r>
              <a:rPr lang="en-IN" sz="1600" dirty="0"/>
              <a:t>Nayak, R., Joshi, R. (2022). L3Cube-HingCorpus and </a:t>
            </a:r>
            <a:r>
              <a:rPr lang="en-IN" sz="1600" dirty="0" err="1"/>
              <a:t>HingBERT</a:t>
            </a:r>
            <a:r>
              <a:rPr lang="en-IN" sz="1600" dirty="0"/>
              <a:t>: A Code Mixed Hindi-English Dataset and BERT Language Models.  </a:t>
            </a:r>
            <a:r>
              <a:rPr lang="en-IN" sz="1600" dirty="0">
                <a:hlinkClick r:id="rId3"/>
              </a:rPr>
              <a:t>https://arxiv.org/abs/2204.08398</a:t>
            </a:r>
            <a:endParaRPr lang="en-IN" sz="1600" dirty="0"/>
          </a:p>
          <a:p>
            <a:r>
              <a:rPr lang="en-IN" sz="1600" b="1" dirty="0"/>
              <a:t>[13] </a:t>
            </a:r>
            <a:r>
              <a:rPr lang="en-IN" sz="1600" dirty="0"/>
              <a:t>Sheth, R., Nisar, S. et al. (2025). COMI-LINGUA: Expert Annotated Large-Scale Dataset for Multitask NLP in Hindi-English Code-Mixing. Findings of EMNLP 2025.  </a:t>
            </a:r>
            <a:r>
              <a:rPr lang="en-IN" sz="1600" dirty="0">
                <a:hlinkClick r:id="rId4"/>
              </a:rPr>
              <a:t>https://arxiv.org/abs/2503.21670</a:t>
            </a:r>
            <a:endParaRPr lang="en-IN" sz="1600" dirty="0"/>
          </a:p>
          <a:p>
            <a:r>
              <a:rPr lang="en-IN" sz="1600" b="1" dirty="0"/>
              <a:t>[14] </a:t>
            </a:r>
            <a:r>
              <a:rPr lang="en-IN" sz="1600" dirty="0"/>
              <a:t>Wu, C., Ma, B., Liu, Y. et al. (2025). M-ABSA: A Multilingual Dataset for Aspect-Based Sentiment Analysis. Proceedings of EMNLP 2025.  </a:t>
            </a:r>
            <a:r>
              <a:rPr lang="en-IN" sz="1600" dirty="0">
                <a:hlinkClick r:id="rId5"/>
              </a:rPr>
              <a:t>https://aclanthology.org/2025.emnlp-main.128/</a:t>
            </a:r>
            <a:endParaRPr lang="en-IN" sz="1600" dirty="0"/>
          </a:p>
          <a:p>
            <a:r>
              <a:rPr lang="en-IN" sz="1600" b="1" dirty="0"/>
              <a:t>[15] </a:t>
            </a:r>
            <a:r>
              <a:rPr lang="en-IN" sz="1600" dirty="0"/>
              <a:t>Sterner, I., Teufel, S. (2025). Code-Switching and Syntax: A Large-Scale Experiment. Findings of ACL 2025, 11526–11533.  </a:t>
            </a:r>
            <a:r>
              <a:rPr lang="en-IN" sz="1600" dirty="0">
                <a:hlinkClick r:id="rId6"/>
              </a:rPr>
              <a:t>https://aclanthology.org/2025.findings-acl.600/</a:t>
            </a:r>
            <a:endParaRPr lang="en-IN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52414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2D67C8-7788-4F33-D31D-BD3735585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40" y="564502"/>
            <a:ext cx="12218479" cy="5728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72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343</TotalTime>
  <Words>2365</Words>
  <Application>Microsoft Office PowerPoint</Application>
  <PresentationFormat>Widescreen</PresentationFormat>
  <Paragraphs>191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Cambria Math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Aaditya Panda</cp:lastModifiedBy>
  <cp:revision>10</cp:revision>
  <dcterms:created xsi:type="dcterms:W3CDTF">2026-08-18T09:15:08Z</dcterms:created>
  <dcterms:modified xsi:type="dcterms:W3CDTF">2026-08-19T06:05:54Z</dcterms:modified>
</cp:coreProperties>
</file>